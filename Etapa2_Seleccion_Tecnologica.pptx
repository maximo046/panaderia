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5" r:id="rId10"/>
    <p:sldId id="266" r:id="rId11"/>
    <p:sldId id="263"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53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Guion oral: Primero instalamos PHPMailer y cargamos sus clases. Para enviar con Gmail, la cuenta emisora debe tener activada la verificación en dos pasos y usamos una contraseña de aplicación, no la contraseña habitual. En este sistema escribimos ambas credenciales en PHP/config_panaderia.php, que devuelve un arreglo PHP con smtp_user y smtp_password. En la configuración del objeto, Host indica el servidor smtp.gmail.com, el puerto 587 se usa con STARTTLS y SMTPAuth activa la autenticación. setFrom indica qué cuenta aparece como emisora; addAddress indica quién recibe. Son direcciones que cumplen funciones diferentes. El ejemplo muestra datos ficticios: nunca se debe incluir la clave real en una diapositiva compartida.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38635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Guion oral: PHPMailer es una clase: podemos verla como un molde que contiene funcionalidades para manejar correos. La variable correo guarda un objeto, es decir, un ejemplar concreto creado con new. Ese objeto mantiene la configuración de este mensaje. El true que pasamos al constructor indica que PHPMailer debe informar fallos mediante excepciones, que el programa puede capturar para manejar errores. El operador flecha accede a los elementos del objeto. A la izquierda de la flecha vemos tanto propiedades como métodos: cuando aparece un igual estamos asignando un dato a una propiedad, como Host; cuando aparecen paréntesis estamos llamando un método, como isSMTP.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57662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Guion oral: Las propiedades guardan datos de configuración. SMTPAuth indica si habrá autenticación; Username y Password contienen las credenciales de la cuenta emisora; Host y Port identifican servidor y puerto; SMTPSecure especifica el cifrado. ENCRYPTION_STARTTLS es una constante de PHPMailer para usar STARTTLS. En cambio, isSMTP, setFrom, addAddress y send son métodos, o sea, acciones que llamamos con paréntesis. setFrom establece la dirección del emisor; addAddress agrega el destinatario. Subject, Body y AltBody son propiedades del contenido: asunto, mensaje HTML y alternativa de texto plano. Finalmente send intenta transmitir el correo; al usar new PHPMailer(true), los errores se pueden gestionar con excepciones. En el sistema, el destinatario lo decide cada flujo: las alertas usan el correo de sesión y el formulario de ayuda consulta el del administrador.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90400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503"/>
        </a:solidFill>
        <a:effectLst/>
      </p:bgPr>
    </p:bg>
    <p:spTree>
      <p:nvGrpSpPr>
        <p:cNvPr id="1" name=""/>
        <p:cNvGrpSpPr/>
        <p:nvPr/>
      </p:nvGrpSpPr>
      <p:grpSpPr>
        <a:xfrm>
          <a:off x="0" y="0"/>
          <a:ext cx="0" cy="0"/>
          <a:chOff x="0" y="0"/>
          <a:chExt cx="0" cy="0"/>
        </a:xfrm>
      </p:grpSpPr>
      <p:sp>
        <p:nvSpPr>
          <p:cNvPr id="2" name="Shape 0"/>
          <p:cNvSpPr/>
          <p:nvPr/>
        </p:nvSpPr>
        <p:spPr>
          <a:xfrm>
            <a:off x="6309360" y="822960"/>
            <a:ext cx="2194560" cy="2194560"/>
          </a:xfrm>
          <a:prstGeom prst="ellipse">
            <a:avLst/>
          </a:prstGeom>
          <a:solidFill>
            <a:srgbClr val="D4822A"/>
          </a:solidFill>
          <a:ln w="12700">
            <a:solidFill>
              <a:srgbClr val="D4822A"/>
            </a:solidFill>
            <a:prstDash val="solid"/>
          </a:ln>
        </p:spPr>
      </p:sp>
      <p:sp>
        <p:nvSpPr>
          <p:cNvPr id="3" name="Text 1"/>
          <p:cNvSpPr txBox="1"/>
          <p:nvPr/>
        </p:nvSpPr>
        <p:spPr>
          <a:xfrm>
            <a:off x="6309360" y="822960"/>
            <a:ext cx="2194560" cy="2194560"/>
          </a:xfrm>
          <a:prstGeom prst="rect">
            <a:avLst/>
          </a:prstGeom>
          <a:noFill/>
          <a:ln/>
        </p:spPr>
        <p:txBody>
          <a:bodyPr wrap="square" lIns="0" tIns="0" rIns="0" bIns="0" rtlCol="0" anchor="ctr"/>
          <a:lstStyle/>
          <a:p>
            <a:pPr marL="0" indent="0" algn="ctr">
              <a:buNone/>
            </a:pPr>
            <a:endParaRPr lang="en-US" sz="5280" dirty="0"/>
          </a:p>
        </p:txBody>
      </p:sp>
      <p:sp>
        <p:nvSpPr>
          <p:cNvPr id="4" name="Shape 2"/>
          <p:cNvSpPr/>
          <p:nvPr/>
        </p:nvSpPr>
        <p:spPr>
          <a:xfrm>
            <a:off x="7589520" y="3017520"/>
            <a:ext cx="1280160" cy="1280160"/>
          </a:xfrm>
          <a:prstGeom prst="ellipse">
            <a:avLst/>
          </a:prstGeom>
          <a:solidFill>
            <a:srgbClr val="5A3413"/>
          </a:solidFill>
          <a:ln w="12700">
            <a:solidFill>
              <a:srgbClr val="5A3413"/>
            </a:solidFill>
            <a:prstDash val="solid"/>
          </a:ln>
        </p:spPr>
      </p:sp>
      <p:sp>
        <p:nvSpPr>
          <p:cNvPr id="5" name="Text 3"/>
          <p:cNvSpPr txBox="1"/>
          <p:nvPr/>
        </p:nvSpPr>
        <p:spPr>
          <a:xfrm>
            <a:off x="640080" y="1097280"/>
            <a:ext cx="5486400" cy="457200"/>
          </a:xfrm>
          <a:prstGeom prst="rect">
            <a:avLst/>
          </a:prstGeom>
          <a:noFill/>
          <a:ln/>
        </p:spPr>
        <p:txBody>
          <a:bodyPr wrap="square" lIns="0" tIns="0" rIns="0" bIns="0" rtlCol="0" anchor="ctr"/>
          <a:lstStyle/>
          <a:p>
            <a:pPr marL="0" indent="0">
              <a:buNone/>
            </a:pPr>
            <a:r>
              <a:rPr lang="en-US" sz="2000" b="1" dirty="0">
                <a:solidFill>
                  <a:srgbClr val="D4822A"/>
                </a:solidFill>
                <a:latin typeface="Calibri" pitchFamily="34" charset="0"/>
                <a:ea typeface="Calibri" pitchFamily="34" charset="-122"/>
                <a:cs typeface="Calibri" pitchFamily="34" charset="-120"/>
              </a:rPr>
              <a:t>Etapa 2</a:t>
            </a:r>
            <a:endParaRPr lang="en-US" sz="2000" dirty="0"/>
          </a:p>
        </p:txBody>
      </p:sp>
      <p:sp>
        <p:nvSpPr>
          <p:cNvPr id="6" name="Text 4"/>
          <p:cNvSpPr txBox="1"/>
          <p:nvPr/>
        </p:nvSpPr>
        <p:spPr>
          <a:xfrm>
            <a:off x="640080" y="1600200"/>
            <a:ext cx="5669280" cy="13716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Selección tecnológica</a:t>
            </a:r>
            <a:endParaRPr lang="en-US" sz="4400" dirty="0"/>
          </a:p>
        </p:txBody>
      </p:sp>
      <p:sp>
        <p:nvSpPr>
          <p:cNvPr id="7" name="Text 5"/>
          <p:cNvSpPr txBox="1"/>
          <p:nvPr/>
        </p:nvSpPr>
        <p:spPr>
          <a:xfrm>
            <a:off x="640080" y="3291840"/>
            <a:ext cx="5486400" cy="1005840"/>
          </a:xfrm>
          <a:prstGeom prst="rect">
            <a:avLst/>
          </a:prstGeom>
          <a:noFill/>
          <a:ln/>
        </p:spPr>
        <p:txBody>
          <a:bodyPr wrap="square" lIns="0" tIns="0" rIns="0" bIns="0" rtlCol="0" anchor="ctr"/>
          <a:lstStyle/>
          <a:p>
            <a:pPr marL="0" indent="0">
              <a:buNone/>
            </a:pPr>
            <a:r>
              <a:rPr lang="en-US" sz="1600" dirty="0">
                <a:solidFill>
                  <a:srgbClr val="E8D5BF"/>
                </a:solidFill>
                <a:latin typeface="Calibri" pitchFamily="34" charset="0"/>
                <a:ea typeface="Calibri" pitchFamily="34" charset="-122"/>
                <a:cs typeface="Calibri" pitchFamily="34" charset="-120"/>
              </a:rPr>
              <a:t>Sistema de gestión · </a:t>
            </a:r>
            <a:r>
              <a:rPr lang="en-US" sz="1600" dirty="0" err="1">
                <a:solidFill>
                  <a:srgbClr val="E8D5BF"/>
                </a:solidFill>
                <a:latin typeface="Calibri" pitchFamily="34" charset="0"/>
                <a:ea typeface="Calibri" pitchFamily="34" charset="-122"/>
                <a:cs typeface="Calibri" pitchFamily="34" charset="-120"/>
              </a:rPr>
              <a:t>Panadería</a:t>
            </a:r>
            <a:endParaRPr lang="en-US" sz="1600" dirty="0">
              <a:solidFill>
                <a:srgbClr val="E8D5BF"/>
              </a:solidFill>
              <a:latin typeface="Calibri" pitchFamily="34" charset="0"/>
              <a:ea typeface="Calibri" pitchFamily="34" charset="-122"/>
              <a:cs typeface="Calibri" pitchFamily="34" charset="-120"/>
            </a:endParaRPr>
          </a:p>
          <a:p>
            <a:pPr marL="0" indent="0">
              <a:buNone/>
            </a:pPr>
            <a:endParaRPr lang="en-US" sz="1600" dirty="0">
              <a:solidFill>
                <a:srgbClr val="E8D5BF"/>
              </a:solidFill>
              <a:latin typeface="Calibri" pitchFamily="34" charset="0"/>
              <a:ea typeface="Calibri" pitchFamily="34" charset="-122"/>
              <a:cs typeface="Calibri" pitchFamily="34" charset="-120"/>
            </a:endParaRPr>
          </a:p>
          <a:p>
            <a:pPr marL="0" indent="0">
              <a:buNone/>
            </a:pPr>
            <a:r>
              <a:rPr lang="en-US" sz="1200" dirty="0" err="1">
                <a:solidFill>
                  <a:srgbClr val="E8D5BF"/>
                </a:solidFill>
                <a:latin typeface="Calibri" pitchFamily="34" charset="0"/>
                <a:ea typeface="Calibri" pitchFamily="34" charset="-122"/>
                <a:cs typeface="Calibri" pitchFamily="34" charset="-120"/>
              </a:rPr>
              <a:t>Alumnos</a:t>
            </a:r>
            <a:r>
              <a:rPr lang="en-US" sz="1200" dirty="0">
                <a:solidFill>
                  <a:srgbClr val="E8D5BF"/>
                </a:solidFill>
                <a:latin typeface="Calibri" pitchFamily="34" charset="0"/>
                <a:ea typeface="Calibri" pitchFamily="34" charset="-122"/>
                <a:cs typeface="Calibri" pitchFamily="34" charset="-120"/>
              </a:rPr>
              <a:t>: Caceres Pio; </a:t>
            </a:r>
            <a:r>
              <a:rPr lang="en-US" sz="1200" dirty="0" err="1">
                <a:solidFill>
                  <a:srgbClr val="E8D5BF"/>
                </a:solidFill>
                <a:latin typeface="Calibri" pitchFamily="34" charset="0"/>
                <a:ea typeface="Calibri" pitchFamily="34" charset="-122"/>
                <a:cs typeface="Calibri" pitchFamily="34" charset="-120"/>
              </a:rPr>
              <a:t>Balguenet</a:t>
            </a:r>
            <a:r>
              <a:rPr lang="en-US" sz="1200" dirty="0">
                <a:solidFill>
                  <a:srgbClr val="E8D5BF"/>
                </a:solidFill>
                <a:latin typeface="Calibri" pitchFamily="34" charset="0"/>
                <a:ea typeface="Calibri" pitchFamily="34" charset="-122"/>
                <a:cs typeface="Calibri" pitchFamily="34" charset="-120"/>
              </a:rPr>
              <a:t> Imanol; Pedrozo </a:t>
            </a:r>
            <a:r>
              <a:rPr lang="en-US" sz="1200" u="sng" dirty="0">
                <a:solidFill>
                  <a:srgbClr val="E8D5BF"/>
                </a:solidFill>
                <a:latin typeface="Calibri" pitchFamily="34" charset="0"/>
                <a:ea typeface="Calibri" pitchFamily="34" charset="-122"/>
                <a:cs typeface="Calibri" pitchFamily="34" charset="-120"/>
              </a:rPr>
              <a:t>Máximo</a:t>
            </a:r>
            <a:endParaRPr lang="en-US" sz="1200" u="sng" dirty="0"/>
          </a:p>
        </p:txBody>
      </p:sp>
      <p:sp>
        <p:nvSpPr>
          <p:cNvPr id="8" name="Text 6"/>
          <p:cNvSpPr txBox="1"/>
          <p:nvPr/>
        </p:nvSpPr>
        <p:spPr>
          <a:xfrm>
            <a:off x="640080" y="4297680"/>
            <a:ext cx="5486400" cy="274320"/>
          </a:xfrm>
          <a:prstGeom prst="rect">
            <a:avLst/>
          </a:prstGeom>
          <a:noFill/>
          <a:ln/>
        </p:spPr>
        <p:txBody>
          <a:bodyPr wrap="square" lIns="0" tIns="0" rIns="0" bIns="0" rtlCol="0" anchor="ctr"/>
          <a:lstStyle/>
          <a:p>
            <a:pPr marL="0" indent="0">
              <a:buNone/>
            </a:pPr>
            <a:r>
              <a:rPr lang="en-US" sz="1200" dirty="0">
                <a:solidFill>
                  <a:srgbClr val="B89C82"/>
                </a:solidFill>
                <a:latin typeface="Calibri" pitchFamily="34" charset="0"/>
                <a:ea typeface="Calibri" pitchFamily="34" charset="-122"/>
                <a:cs typeface="Calibri" pitchFamily="34" charset="-120"/>
              </a:rPr>
              <a:t>Escuela Normal N°10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Herramientas y necesidad que resuelven</a:t>
            </a:r>
            <a:endParaRPr lang="en-US" sz="3400" dirty="0"/>
          </a:p>
        </p:txBody>
      </p:sp>
      <p:sp>
        <p:nvSpPr>
          <p:cNvPr id="3" name="Shape 1"/>
          <p:cNvSpPr/>
          <p:nvPr/>
        </p:nvSpPr>
        <p:spPr>
          <a:xfrm>
            <a:off x="548640" y="1280160"/>
            <a:ext cx="3931920" cy="1554480"/>
          </a:xfrm>
          <a:prstGeom prst="roundRect">
            <a:avLst>
              <a:gd name="adj" fmla="val 5882"/>
            </a:avLst>
          </a:prstGeom>
          <a:solidFill>
            <a:srgbClr val="F5F5F5"/>
          </a:solidFill>
          <a:ln w="12700">
            <a:solidFill>
              <a:srgbClr val="F5F5F5"/>
            </a:solidFill>
            <a:prstDash val="solid"/>
          </a:ln>
        </p:spPr>
      </p:sp>
      <p:sp>
        <p:nvSpPr>
          <p:cNvPr id="4" name="Shape 2"/>
          <p:cNvSpPr/>
          <p:nvPr/>
        </p:nvSpPr>
        <p:spPr>
          <a:xfrm>
            <a:off x="731520" y="1463040"/>
            <a:ext cx="548640" cy="548640"/>
          </a:xfrm>
          <a:prstGeom prst="ellipse">
            <a:avLst/>
          </a:prstGeom>
          <a:solidFill>
            <a:srgbClr val="D4822A"/>
          </a:solidFill>
          <a:ln w="12700">
            <a:solidFill>
              <a:srgbClr val="D4822A"/>
            </a:solidFill>
            <a:prstDash val="solid"/>
          </a:ln>
        </p:spPr>
      </p:sp>
      <p:sp>
        <p:nvSpPr>
          <p:cNvPr id="5" name="Text 3"/>
          <p:cNvSpPr txBox="1"/>
          <p:nvPr/>
        </p:nvSpPr>
        <p:spPr>
          <a:xfrm>
            <a:off x="731520" y="1463040"/>
            <a:ext cx="548640" cy="548640"/>
          </a:xfrm>
          <a:prstGeom prst="rect">
            <a:avLst/>
          </a:prstGeom>
          <a:noFill/>
          <a:ln/>
        </p:spPr>
        <p:txBody>
          <a:bodyPr wrap="square" lIns="0" tIns="0" rIns="0" bIns="0"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B</a:t>
            </a:r>
            <a:endParaRPr lang="en-US" sz="1320" dirty="0"/>
          </a:p>
        </p:txBody>
      </p:sp>
      <p:sp>
        <p:nvSpPr>
          <p:cNvPr id="6" name="Text 4"/>
          <p:cNvSpPr txBox="1"/>
          <p:nvPr/>
        </p:nvSpPr>
        <p:spPr>
          <a:xfrm>
            <a:off x="1463040" y="1417320"/>
            <a:ext cx="2834640" cy="365760"/>
          </a:xfrm>
          <a:prstGeom prst="rect">
            <a:avLst/>
          </a:prstGeom>
          <a:noFill/>
          <a:ln/>
        </p:spPr>
        <p:txBody>
          <a:bodyPr wrap="square" lIns="0" tIns="0" rIns="0" bIns="0" rtlCol="0" anchor="ctr"/>
          <a:lstStyle/>
          <a:p>
            <a:pPr marL="0" indent="0">
              <a:buNone/>
            </a:pPr>
            <a:r>
              <a:rPr lang="en-US" sz="2000" b="1" dirty="0">
                <a:solidFill>
                  <a:srgbClr val="2E1503"/>
                </a:solidFill>
                <a:latin typeface="Cambria" pitchFamily="34" charset="0"/>
                <a:ea typeface="Cambria" pitchFamily="34" charset="-122"/>
                <a:cs typeface="Cambria" pitchFamily="34" charset="-120"/>
              </a:rPr>
              <a:t>Bootstrap</a:t>
            </a:r>
            <a:endParaRPr lang="en-US" sz="2000" dirty="0"/>
          </a:p>
        </p:txBody>
      </p:sp>
      <p:sp>
        <p:nvSpPr>
          <p:cNvPr id="7" name="Text 5"/>
          <p:cNvSpPr txBox="1"/>
          <p:nvPr/>
        </p:nvSpPr>
        <p:spPr>
          <a:xfrm>
            <a:off x="1463040" y="1755648"/>
            <a:ext cx="2834640" cy="27432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Framework CSS / JS</a:t>
            </a:r>
            <a:endParaRPr lang="en-US" sz="1200" dirty="0"/>
          </a:p>
        </p:txBody>
      </p:sp>
      <p:sp>
        <p:nvSpPr>
          <p:cNvPr id="8" name="Text 6"/>
          <p:cNvSpPr txBox="1"/>
          <p:nvPr/>
        </p:nvSpPr>
        <p:spPr>
          <a:xfrm>
            <a:off x="731520" y="2121408"/>
            <a:ext cx="3566160" cy="64008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Diseño responsive, grilla, formularios y componentes de la interfaz sin escribir todo el CSS a mano.</a:t>
            </a:r>
            <a:endParaRPr lang="en-US" sz="1300" dirty="0"/>
          </a:p>
        </p:txBody>
      </p:sp>
      <p:sp>
        <p:nvSpPr>
          <p:cNvPr id="9" name="Shape 7"/>
          <p:cNvSpPr/>
          <p:nvPr/>
        </p:nvSpPr>
        <p:spPr>
          <a:xfrm>
            <a:off x="4663440" y="1280160"/>
            <a:ext cx="3931920" cy="1554480"/>
          </a:xfrm>
          <a:prstGeom prst="roundRect">
            <a:avLst>
              <a:gd name="adj" fmla="val 5882"/>
            </a:avLst>
          </a:prstGeom>
          <a:solidFill>
            <a:srgbClr val="F5F5F5"/>
          </a:solidFill>
          <a:ln w="12700">
            <a:solidFill>
              <a:srgbClr val="F5F5F5"/>
            </a:solidFill>
            <a:prstDash val="solid"/>
          </a:ln>
        </p:spPr>
      </p:sp>
      <p:sp>
        <p:nvSpPr>
          <p:cNvPr id="10" name="Shape 8"/>
          <p:cNvSpPr/>
          <p:nvPr/>
        </p:nvSpPr>
        <p:spPr>
          <a:xfrm>
            <a:off x="4846320" y="1463040"/>
            <a:ext cx="548640" cy="548640"/>
          </a:xfrm>
          <a:prstGeom prst="ellipse">
            <a:avLst/>
          </a:prstGeom>
          <a:solidFill>
            <a:srgbClr val="D4822A"/>
          </a:solidFill>
          <a:ln w="12700">
            <a:solidFill>
              <a:srgbClr val="D4822A"/>
            </a:solidFill>
            <a:prstDash val="solid"/>
          </a:ln>
        </p:spPr>
      </p:sp>
      <p:sp>
        <p:nvSpPr>
          <p:cNvPr id="11" name="Text 9"/>
          <p:cNvSpPr txBox="1"/>
          <p:nvPr/>
        </p:nvSpPr>
        <p:spPr>
          <a:xfrm>
            <a:off x="4846320" y="1463040"/>
            <a:ext cx="548640" cy="548640"/>
          </a:xfrm>
          <a:prstGeom prst="rect">
            <a:avLst/>
          </a:prstGeom>
          <a:noFill/>
          <a:ln/>
        </p:spPr>
        <p:txBody>
          <a:bodyPr wrap="square" lIns="0" tIns="0" rIns="0" bIns="0"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D</a:t>
            </a:r>
            <a:endParaRPr lang="en-US" sz="1320" dirty="0"/>
          </a:p>
        </p:txBody>
      </p:sp>
      <p:sp>
        <p:nvSpPr>
          <p:cNvPr id="12" name="Text 10"/>
          <p:cNvSpPr txBox="1"/>
          <p:nvPr/>
        </p:nvSpPr>
        <p:spPr>
          <a:xfrm>
            <a:off x="5577840" y="1417320"/>
            <a:ext cx="2834640" cy="365760"/>
          </a:xfrm>
          <a:prstGeom prst="rect">
            <a:avLst/>
          </a:prstGeom>
          <a:noFill/>
          <a:ln/>
        </p:spPr>
        <p:txBody>
          <a:bodyPr wrap="square" lIns="0" tIns="0" rIns="0" bIns="0" rtlCol="0" anchor="ctr"/>
          <a:lstStyle/>
          <a:p>
            <a:pPr marL="0" indent="0">
              <a:buNone/>
            </a:pPr>
            <a:r>
              <a:rPr lang="en-US" sz="2000" b="1" dirty="0">
                <a:solidFill>
                  <a:srgbClr val="2E1503"/>
                </a:solidFill>
                <a:latin typeface="Cambria" pitchFamily="34" charset="0"/>
                <a:ea typeface="Cambria" pitchFamily="34" charset="-122"/>
                <a:cs typeface="Cambria" pitchFamily="34" charset="-120"/>
              </a:rPr>
              <a:t>DataTables</a:t>
            </a:r>
            <a:endParaRPr lang="en-US" sz="2000" dirty="0"/>
          </a:p>
        </p:txBody>
      </p:sp>
      <p:sp>
        <p:nvSpPr>
          <p:cNvPr id="13" name="Text 11"/>
          <p:cNvSpPr txBox="1"/>
          <p:nvPr/>
        </p:nvSpPr>
        <p:spPr>
          <a:xfrm>
            <a:off x="5577840" y="1755648"/>
            <a:ext cx="2834640" cy="27432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Biblioteca JavaScript</a:t>
            </a:r>
            <a:endParaRPr lang="en-US" sz="1200" dirty="0"/>
          </a:p>
        </p:txBody>
      </p:sp>
      <p:sp>
        <p:nvSpPr>
          <p:cNvPr id="14" name="Text 12"/>
          <p:cNvSpPr txBox="1"/>
          <p:nvPr/>
        </p:nvSpPr>
        <p:spPr>
          <a:xfrm>
            <a:off x="4846320" y="2121408"/>
            <a:ext cx="3566160" cy="64008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Tablas con paginación, búsqueda y ordenamiento en Stock, Productos, Ventas y Reportes.</a:t>
            </a:r>
            <a:endParaRPr lang="en-US" sz="1300" dirty="0"/>
          </a:p>
        </p:txBody>
      </p:sp>
      <p:sp>
        <p:nvSpPr>
          <p:cNvPr id="15" name="Shape 13"/>
          <p:cNvSpPr/>
          <p:nvPr/>
        </p:nvSpPr>
        <p:spPr>
          <a:xfrm>
            <a:off x="548640" y="3017520"/>
            <a:ext cx="3931920" cy="1554480"/>
          </a:xfrm>
          <a:prstGeom prst="roundRect">
            <a:avLst>
              <a:gd name="adj" fmla="val 5882"/>
            </a:avLst>
          </a:prstGeom>
          <a:solidFill>
            <a:srgbClr val="F5F5F5"/>
          </a:solidFill>
          <a:ln w="12700">
            <a:solidFill>
              <a:srgbClr val="F5F5F5"/>
            </a:solidFill>
            <a:prstDash val="solid"/>
          </a:ln>
        </p:spPr>
      </p:sp>
      <p:sp>
        <p:nvSpPr>
          <p:cNvPr id="16" name="Shape 14"/>
          <p:cNvSpPr/>
          <p:nvPr/>
        </p:nvSpPr>
        <p:spPr>
          <a:xfrm>
            <a:off x="731520" y="3200400"/>
            <a:ext cx="548640" cy="548640"/>
          </a:xfrm>
          <a:prstGeom prst="ellipse">
            <a:avLst/>
          </a:prstGeom>
          <a:solidFill>
            <a:srgbClr val="D4822A"/>
          </a:solidFill>
          <a:ln w="12700">
            <a:solidFill>
              <a:srgbClr val="D4822A"/>
            </a:solidFill>
            <a:prstDash val="solid"/>
          </a:ln>
        </p:spPr>
      </p:sp>
      <p:sp>
        <p:nvSpPr>
          <p:cNvPr id="17" name="Text 15"/>
          <p:cNvSpPr txBox="1"/>
          <p:nvPr/>
        </p:nvSpPr>
        <p:spPr>
          <a:xfrm>
            <a:off x="731520" y="3200400"/>
            <a:ext cx="548640" cy="548640"/>
          </a:xfrm>
          <a:prstGeom prst="rect">
            <a:avLst/>
          </a:prstGeom>
          <a:noFill/>
          <a:ln/>
        </p:spPr>
        <p:txBody>
          <a:bodyPr wrap="square" lIns="0" tIns="0" rIns="0" bIns="0"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P</a:t>
            </a:r>
            <a:endParaRPr lang="en-US" sz="1320" dirty="0"/>
          </a:p>
        </p:txBody>
      </p:sp>
      <p:sp>
        <p:nvSpPr>
          <p:cNvPr id="18" name="Text 16"/>
          <p:cNvSpPr txBox="1"/>
          <p:nvPr/>
        </p:nvSpPr>
        <p:spPr>
          <a:xfrm>
            <a:off x="1463040" y="3154680"/>
            <a:ext cx="2834640" cy="365760"/>
          </a:xfrm>
          <a:prstGeom prst="rect">
            <a:avLst/>
          </a:prstGeom>
          <a:noFill/>
          <a:ln/>
        </p:spPr>
        <p:txBody>
          <a:bodyPr wrap="square" lIns="0" tIns="0" rIns="0" bIns="0" rtlCol="0" anchor="ctr"/>
          <a:lstStyle/>
          <a:p>
            <a:pPr marL="0" indent="0">
              <a:buNone/>
            </a:pPr>
            <a:r>
              <a:rPr lang="en-US" sz="2000" b="1" dirty="0">
                <a:solidFill>
                  <a:srgbClr val="2E1503"/>
                </a:solidFill>
                <a:latin typeface="Cambria" pitchFamily="34" charset="0"/>
                <a:ea typeface="Cambria" pitchFamily="34" charset="-122"/>
                <a:cs typeface="Cambria" pitchFamily="34" charset="-120"/>
              </a:rPr>
              <a:t>PHPMailer</a:t>
            </a:r>
            <a:endParaRPr lang="en-US" sz="2000" dirty="0"/>
          </a:p>
        </p:txBody>
      </p:sp>
      <p:sp>
        <p:nvSpPr>
          <p:cNvPr id="19" name="Text 17"/>
          <p:cNvSpPr txBox="1"/>
          <p:nvPr/>
        </p:nvSpPr>
        <p:spPr>
          <a:xfrm>
            <a:off x="1463040" y="3493008"/>
            <a:ext cx="2834640" cy="27432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Biblioteca PHP</a:t>
            </a:r>
            <a:endParaRPr lang="en-US" sz="1200" dirty="0"/>
          </a:p>
        </p:txBody>
      </p:sp>
      <p:sp>
        <p:nvSpPr>
          <p:cNvPr id="20" name="Text 18"/>
          <p:cNvSpPr txBox="1"/>
          <p:nvPr/>
        </p:nvSpPr>
        <p:spPr>
          <a:xfrm>
            <a:off x="731520" y="3858768"/>
            <a:ext cx="3566160" cy="64008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Envío de correos por SMTP: alertas de stock bajo y mensajes del formulario de ayuda.</a:t>
            </a:r>
            <a:endParaRPr lang="en-US" sz="1300" dirty="0"/>
          </a:p>
        </p:txBody>
      </p:sp>
      <p:sp>
        <p:nvSpPr>
          <p:cNvPr id="21" name="Shape 19"/>
          <p:cNvSpPr/>
          <p:nvPr/>
        </p:nvSpPr>
        <p:spPr>
          <a:xfrm>
            <a:off x="4663440" y="3017520"/>
            <a:ext cx="3931920" cy="1554480"/>
          </a:xfrm>
          <a:prstGeom prst="roundRect">
            <a:avLst>
              <a:gd name="adj" fmla="val 5882"/>
            </a:avLst>
          </a:prstGeom>
          <a:solidFill>
            <a:srgbClr val="F5F5F5"/>
          </a:solidFill>
          <a:ln w="12700">
            <a:solidFill>
              <a:srgbClr val="F5F5F5"/>
            </a:solidFill>
            <a:prstDash val="solid"/>
          </a:ln>
        </p:spPr>
      </p:sp>
      <p:sp>
        <p:nvSpPr>
          <p:cNvPr id="22" name="Shape 20"/>
          <p:cNvSpPr/>
          <p:nvPr/>
        </p:nvSpPr>
        <p:spPr>
          <a:xfrm>
            <a:off x="4846320" y="3200400"/>
            <a:ext cx="548640" cy="548640"/>
          </a:xfrm>
          <a:prstGeom prst="ellipse">
            <a:avLst/>
          </a:prstGeom>
          <a:solidFill>
            <a:srgbClr val="D4822A"/>
          </a:solidFill>
          <a:ln w="12700">
            <a:solidFill>
              <a:srgbClr val="D4822A"/>
            </a:solidFill>
            <a:prstDash val="solid"/>
          </a:ln>
        </p:spPr>
      </p:sp>
      <p:sp>
        <p:nvSpPr>
          <p:cNvPr id="23" name="Text 21"/>
          <p:cNvSpPr txBox="1"/>
          <p:nvPr/>
        </p:nvSpPr>
        <p:spPr>
          <a:xfrm>
            <a:off x="4846320" y="3200400"/>
            <a:ext cx="548640" cy="548640"/>
          </a:xfrm>
          <a:prstGeom prst="rect">
            <a:avLst/>
          </a:prstGeom>
          <a:noFill/>
          <a:ln/>
        </p:spPr>
        <p:txBody>
          <a:bodyPr wrap="square" lIns="0" tIns="0" rIns="0" bIns="0"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R</a:t>
            </a:r>
            <a:endParaRPr lang="en-US" sz="1320" dirty="0"/>
          </a:p>
        </p:txBody>
      </p:sp>
      <p:sp>
        <p:nvSpPr>
          <p:cNvPr id="24" name="Text 22"/>
          <p:cNvSpPr txBox="1"/>
          <p:nvPr/>
        </p:nvSpPr>
        <p:spPr>
          <a:xfrm>
            <a:off x="5577840" y="3154680"/>
            <a:ext cx="2834640" cy="365760"/>
          </a:xfrm>
          <a:prstGeom prst="rect">
            <a:avLst/>
          </a:prstGeom>
          <a:noFill/>
          <a:ln/>
        </p:spPr>
        <p:txBody>
          <a:bodyPr wrap="square" lIns="0" tIns="0" rIns="0" bIns="0" rtlCol="0" anchor="ctr"/>
          <a:lstStyle/>
          <a:p>
            <a:pPr marL="0" indent="0">
              <a:buNone/>
            </a:pPr>
            <a:r>
              <a:rPr lang="en-US" sz="2000" b="1" dirty="0">
                <a:solidFill>
                  <a:srgbClr val="2E1503"/>
                </a:solidFill>
                <a:latin typeface="Cambria" pitchFamily="34" charset="0"/>
                <a:ea typeface="Cambria" pitchFamily="34" charset="-122"/>
                <a:cs typeface="Cambria" pitchFamily="34" charset="-120"/>
              </a:rPr>
              <a:t>Dompdf</a:t>
            </a:r>
            <a:endParaRPr lang="en-US" sz="2000" dirty="0"/>
          </a:p>
        </p:txBody>
      </p:sp>
      <p:sp>
        <p:nvSpPr>
          <p:cNvPr id="25" name="Text 23"/>
          <p:cNvSpPr txBox="1"/>
          <p:nvPr/>
        </p:nvSpPr>
        <p:spPr>
          <a:xfrm>
            <a:off x="5577840" y="3493008"/>
            <a:ext cx="2834640" cy="27432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Biblioteca PHP</a:t>
            </a:r>
            <a:endParaRPr lang="en-US" sz="1200" dirty="0"/>
          </a:p>
        </p:txBody>
      </p:sp>
      <p:sp>
        <p:nvSpPr>
          <p:cNvPr id="26" name="Text 24"/>
          <p:cNvSpPr txBox="1"/>
          <p:nvPr/>
        </p:nvSpPr>
        <p:spPr>
          <a:xfrm>
            <a:off x="4846320" y="3858768"/>
            <a:ext cx="3566160" cy="640080"/>
          </a:xfrm>
          <a:prstGeom prst="rect">
            <a:avLst/>
          </a:prstGeom>
          <a:noFill/>
          <a:ln/>
        </p:spPr>
        <p:txBody>
          <a:bodyPr wrap="square" lIns="0" tIns="0" rIns="0" bIns="0" rtlCol="0" anchor="t"/>
          <a:lstStyle/>
          <a:p>
            <a:pPr marL="0" indent="0">
              <a:buNone/>
            </a:pPr>
            <a:r>
              <a:rPr lang="en-US" sz="1300" dirty="0">
                <a:solidFill>
                  <a:srgbClr val="2B2B2B"/>
                </a:solidFill>
                <a:latin typeface="Calibri" pitchFamily="34" charset="0"/>
                <a:ea typeface="Calibri" pitchFamily="34" charset="-122"/>
                <a:cs typeface="Calibri" pitchFamily="34" charset="-120"/>
              </a:rPr>
              <a:t>Convierte el HTML de los reportes en un documento PDF descargable.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Justificación de la elección</a:t>
            </a:r>
            <a:endParaRPr lang="en-US" sz="3400" dirty="0"/>
          </a:p>
        </p:txBody>
      </p:sp>
      <p:sp>
        <p:nvSpPr>
          <p:cNvPr id="3" name="Shape 1"/>
          <p:cNvSpPr/>
          <p:nvPr/>
        </p:nvSpPr>
        <p:spPr>
          <a:xfrm>
            <a:off x="548640" y="1280160"/>
            <a:ext cx="2011680" cy="749808"/>
          </a:xfrm>
          <a:prstGeom prst="roundRect">
            <a:avLst>
              <a:gd name="adj" fmla="val 12195"/>
            </a:avLst>
          </a:prstGeom>
          <a:solidFill>
            <a:srgbClr val="2E1503"/>
          </a:solidFill>
          <a:ln w="12700">
            <a:solidFill>
              <a:srgbClr val="2E1503"/>
            </a:solidFill>
            <a:prstDash val="solid"/>
          </a:ln>
        </p:spPr>
      </p:sp>
      <p:sp>
        <p:nvSpPr>
          <p:cNvPr id="4" name="Text 2"/>
          <p:cNvSpPr txBox="1"/>
          <p:nvPr/>
        </p:nvSpPr>
        <p:spPr>
          <a:xfrm>
            <a:off x="548640" y="1280160"/>
            <a:ext cx="2011680" cy="74980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Bootstrap</a:t>
            </a:r>
            <a:endParaRPr lang="en-US" sz="1700" dirty="0"/>
          </a:p>
        </p:txBody>
      </p:sp>
      <p:sp>
        <p:nvSpPr>
          <p:cNvPr id="5" name="Text 3"/>
          <p:cNvSpPr txBox="1"/>
          <p:nvPr/>
        </p:nvSpPr>
        <p:spPr>
          <a:xfrm>
            <a:off x="2788920" y="1280160"/>
            <a:ext cx="5806440" cy="749808"/>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Es el framework más difundido, tiene documentación en español y evita diseñar la grilla desde cero. Se usa de forma local, sin depender de internet.</a:t>
            </a:r>
            <a:endParaRPr lang="en-US" sz="1400" dirty="0"/>
          </a:p>
        </p:txBody>
      </p:sp>
      <p:sp>
        <p:nvSpPr>
          <p:cNvPr id="6" name="Shape 4"/>
          <p:cNvSpPr/>
          <p:nvPr/>
        </p:nvSpPr>
        <p:spPr>
          <a:xfrm>
            <a:off x="548640" y="2176272"/>
            <a:ext cx="2011680" cy="749808"/>
          </a:xfrm>
          <a:prstGeom prst="roundRect">
            <a:avLst>
              <a:gd name="adj" fmla="val 12195"/>
            </a:avLst>
          </a:prstGeom>
          <a:solidFill>
            <a:srgbClr val="2E1503"/>
          </a:solidFill>
          <a:ln w="12700">
            <a:solidFill>
              <a:srgbClr val="2E1503"/>
            </a:solidFill>
            <a:prstDash val="solid"/>
          </a:ln>
        </p:spPr>
      </p:sp>
      <p:sp>
        <p:nvSpPr>
          <p:cNvPr id="7" name="Text 5"/>
          <p:cNvSpPr txBox="1"/>
          <p:nvPr/>
        </p:nvSpPr>
        <p:spPr>
          <a:xfrm>
            <a:off x="548640" y="2176272"/>
            <a:ext cx="2011680" cy="74980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DataTables</a:t>
            </a:r>
            <a:endParaRPr lang="en-US" sz="1700" dirty="0"/>
          </a:p>
        </p:txBody>
      </p:sp>
      <p:sp>
        <p:nvSpPr>
          <p:cNvPr id="8" name="Text 6"/>
          <p:cNvSpPr txBox="1"/>
          <p:nvPr/>
        </p:nvSpPr>
        <p:spPr>
          <a:xfrm>
            <a:off x="2788920" y="2176272"/>
            <a:ext cx="5806440" cy="749808"/>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Agrega búsqueda, orden y paginación con pocas líneas de JavaScript sobre tablas HTML que PHP ya genera.</a:t>
            </a:r>
            <a:endParaRPr lang="en-US" sz="1400" dirty="0"/>
          </a:p>
        </p:txBody>
      </p:sp>
      <p:sp>
        <p:nvSpPr>
          <p:cNvPr id="9" name="Shape 7"/>
          <p:cNvSpPr/>
          <p:nvPr/>
        </p:nvSpPr>
        <p:spPr>
          <a:xfrm>
            <a:off x="548640" y="3072384"/>
            <a:ext cx="2011680" cy="749808"/>
          </a:xfrm>
          <a:prstGeom prst="roundRect">
            <a:avLst>
              <a:gd name="adj" fmla="val 12195"/>
            </a:avLst>
          </a:prstGeom>
          <a:solidFill>
            <a:srgbClr val="2E1503"/>
          </a:solidFill>
          <a:ln w="12700">
            <a:solidFill>
              <a:srgbClr val="2E1503"/>
            </a:solidFill>
            <a:prstDash val="solid"/>
          </a:ln>
        </p:spPr>
      </p:sp>
      <p:sp>
        <p:nvSpPr>
          <p:cNvPr id="10" name="Text 8"/>
          <p:cNvSpPr txBox="1"/>
          <p:nvPr/>
        </p:nvSpPr>
        <p:spPr>
          <a:xfrm>
            <a:off x="548640" y="3072384"/>
            <a:ext cx="2011680" cy="74980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PHPMailer</a:t>
            </a:r>
            <a:endParaRPr lang="en-US" sz="1700" dirty="0"/>
          </a:p>
        </p:txBody>
      </p:sp>
      <p:sp>
        <p:nvSpPr>
          <p:cNvPr id="11" name="Text 9"/>
          <p:cNvSpPr txBox="1"/>
          <p:nvPr/>
        </p:nvSpPr>
        <p:spPr>
          <a:xfrm>
            <a:off x="2788920" y="3072384"/>
            <a:ext cx="5806440" cy="749808"/>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Es más seguro y flexible que mail() de PHP: soporta SMTP con autenticación y cifrado STARTTLS (Gmail).</a:t>
            </a:r>
            <a:endParaRPr lang="en-US" sz="1400" dirty="0"/>
          </a:p>
        </p:txBody>
      </p:sp>
      <p:sp>
        <p:nvSpPr>
          <p:cNvPr id="12" name="Shape 10"/>
          <p:cNvSpPr/>
          <p:nvPr/>
        </p:nvSpPr>
        <p:spPr>
          <a:xfrm>
            <a:off x="548640" y="3968496"/>
            <a:ext cx="2011680" cy="749808"/>
          </a:xfrm>
          <a:prstGeom prst="roundRect">
            <a:avLst>
              <a:gd name="adj" fmla="val 12195"/>
            </a:avLst>
          </a:prstGeom>
          <a:solidFill>
            <a:srgbClr val="2E1503"/>
          </a:solidFill>
          <a:ln w="12700">
            <a:solidFill>
              <a:srgbClr val="2E1503"/>
            </a:solidFill>
            <a:prstDash val="solid"/>
          </a:ln>
        </p:spPr>
      </p:sp>
      <p:sp>
        <p:nvSpPr>
          <p:cNvPr id="13" name="Text 11"/>
          <p:cNvSpPr txBox="1"/>
          <p:nvPr/>
        </p:nvSpPr>
        <p:spPr>
          <a:xfrm>
            <a:off x="548640" y="3968496"/>
            <a:ext cx="2011680" cy="74980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Dompdf</a:t>
            </a:r>
            <a:endParaRPr lang="en-US" sz="1700" dirty="0"/>
          </a:p>
        </p:txBody>
      </p:sp>
      <p:sp>
        <p:nvSpPr>
          <p:cNvPr id="14" name="Text 12"/>
          <p:cNvSpPr txBox="1"/>
          <p:nvPr/>
        </p:nvSpPr>
        <p:spPr>
          <a:xfrm>
            <a:off x="2788920" y="3968496"/>
            <a:ext cx="5806440" cy="749808"/>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Reutiliza el mismo HTML y CSS del reporte para generar el PDF, sin aprender un lenguaje de maquetado nuevo.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Versiones utilizadas</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743200"/>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Herramienta</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150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Versión</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150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Ubicación en el proyecto</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1503"/>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Bootstrap</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5.1.3</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Framework/bootstrap-5.1.3/</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DataTables</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3.0.2</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Libreria/DataTables/</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PHPMailer</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7.1.1</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Libreria/PHPMailer/src/</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2B2B2B"/>
                          </a:solidFill>
                          <a:latin typeface="Calibri" pitchFamily="34" charset="0"/>
                          <a:ea typeface="Calibri" pitchFamily="34" charset="-122"/>
                          <a:cs typeface="Calibri" pitchFamily="34" charset="-120"/>
                        </a:rPr>
                        <a:t>Dompdf</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3.1.6</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400" dirty="0">
                          <a:solidFill>
                            <a:srgbClr val="2B2B2B"/>
                          </a:solidFill>
                          <a:latin typeface="Calibri" pitchFamily="34" charset="0"/>
                          <a:ea typeface="Calibri" pitchFamily="34" charset="-122"/>
                          <a:cs typeface="Calibri" pitchFamily="34" charset="-120"/>
                        </a:rPr>
                        <a:t>libreria/dompdf/</a:t>
                      </a:r>
                      <a:endParaRPr lang="en-US" sz="14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548640" y="4297680"/>
            <a:ext cx="8046720" cy="36576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Bootstrap 5.1.3: instalación</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82296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Descargar la versión compilada desde getbootstrap.com.</a:t>
            </a:r>
            <a:endParaRPr lang="en-US" sz="1300" dirty="0"/>
          </a:p>
        </p:txBody>
      </p:sp>
      <p:sp>
        <p:nvSpPr>
          <p:cNvPr id="6" name="Shape 4"/>
          <p:cNvSpPr/>
          <p:nvPr/>
        </p:nvSpPr>
        <p:spPr>
          <a:xfrm>
            <a:off x="548640" y="214884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488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57400"/>
            <a:ext cx="3063240" cy="82296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Extraer el contenido en Framework/bootstrap-5.1.3/.</a:t>
            </a:r>
            <a:endParaRPr lang="en-US" sz="1300" dirty="0"/>
          </a:p>
        </p:txBody>
      </p:sp>
      <p:sp>
        <p:nvSpPr>
          <p:cNvPr id="9" name="Shape 7"/>
          <p:cNvSpPr/>
          <p:nvPr/>
        </p:nvSpPr>
        <p:spPr>
          <a:xfrm>
            <a:off x="548640" y="301752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30175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926080"/>
            <a:ext cx="3063240" cy="82296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Enlazar el CSS en el &lt;head&gt; y el bundle JS antes de cerrar el &lt;body&gt;.</a:t>
            </a:r>
            <a:endParaRPr lang="en-US" sz="1300" dirty="0"/>
          </a:p>
        </p:txBody>
      </p:sp>
      <p:sp>
        <p:nvSpPr>
          <p:cNvPr id="12" name="Shape 10"/>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3" name="Shape 11"/>
          <p:cNvSpPr/>
          <p:nvPr/>
        </p:nvSpPr>
        <p:spPr>
          <a:xfrm>
            <a:off x="4663440" y="1371600"/>
            <a:ext cx="365760" cy="365760"/>
          </a:xfrm>
          <a:prstGeom prst="ellipse">
            <a:avLst/>
          </a:prstGeom>
          <a:solidFill>
            <a:srgbClr val="D4822A"/>
          </a:solidFill>
          <a:ln w="12700">
            <a:solidFill>
              <a:srgbClr val="D4822A"/>
            </a:solidFill>
            <a:prstDash val="solid"/>
          </a:ln>
        </p:spPr>
      </p:sp>
      <p:sp>
        <p:nvSpPr>
          <p:cNvPr id="14" name="Text 12"/>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B</a:t>
            </a:r>
            <a:endParaRPr lang="en-US" sz="880" dirty="0"/>
          </a:p>
        </p:txBody>
      </p:sp>
      <p:sp>
        <p:nvSpPr>
          <p:cNvPr id="15" name="Text 13"/>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Bootstrap</a:t>
            </a:r>
            <a:endParaRPr lang="en-US" sz="1700" dirty="0"/>
          </a:p>
        </p:txBody>
      </p:sp>
      <p:sp>
        <p:nvSpPr>
          <p:cNvPr id="16" name="Text 14"/>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dirty="0">
                <a:solidFill>
                  <a:srgbClr val="EADBC8"/>
                </a:solidFill>
                <a:latin typeface="Courier New" pitchFamily="34" charset="0"/>
                <a:ea typeface="Courier New" pitchFamily="34" charset="-122"/>
                <a:cs typeface="Courier New" pitchFamily="34" charset="-120"/>
              </a:rPr>
              <a:t># Estructura</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Framework/bootstrap-5.1.3/css/</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Framework/bootstrap-5.1.3/js/</a:t>
            </a:r>
            <a:endParaRPr lang="en-US" sz="950" dirty="0"/>
          </a:p>
          <a:p>
            <a:pPr marL="0" indent="0">
              <a:buNone/>
            </a:pP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&lt;link rel="stylesheet" href=</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"Framework/bootstrap-5.1.3/css/</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bootstrap.min.css"&gt;</a:t>
            </a:r>
            <a:endParaRPr lang="en-US" sz="950" dirty="0"/>
          </a:p>
          <a:p>
            <a:pPr marL="0" indent="0">
              <a:buNone/>
            </a:pP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&lt;script src="Framework/bootstrap-5.1.3/</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js/bootstrap.bundle.min.js"&gt;&lt;/script&gt;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DataTables 3.0.2: instalación</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Descargar desde datatables.net/download.</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Copiar los archivos en Libreria/DataTables/.</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Enlazar datatables.min.css y datatables.min.js.</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Inicializar sobre cada tabla con new DataTable().</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D</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DataTables</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dirty="0">
                <a:solidFill>
                  <a:srgbClr val="EADBC8"/>
                </a:solidFill>
                <a:latin typeface="Courier New" pitchFamily="34" charset="0"/>
                <a:ea typeface="Courier New" pitchFamily="34" charset="-122"/>
                <a:cs typeface="Courier New" pitchFamily="34" charset="-120"/>
              </a:rPr>
              <a:t>&lt;link rel="stylesheet"</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href="Libreria/DataTables/</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datatables.min.css"&gt;</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&lt;script src="Libreria/DataTables/</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datatables.min.js" defer&gt;&lt;/script&gt;</a:t>
            </a:r>
            <a:endParaRPr lang="en-US" sz="950" dirty="0"/>
          </a:p>
          <a:p>
            <a:pPr marL="0" indent="0">
              <a:buNone/>
            </a:pP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document.addEventListener(</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'DOMContentLoaded', function () {</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new DataTable('#tabla-ventas', {</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paging: true,</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searching: true,</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ordering: true,</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pageLength: 10</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PHPMailer 7.1.1: instalación</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Instalar con Composer o copiar los archivos src/ al proyecto.</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n-US" sz="1300">
                <a:solidFill>
                  <a:srgbClr val="2B2B2B"/>
                </a:solidFill>
                <a:latin typeface="Calibri" pitchFamily="34" charset="0"/>
                <a:ea typeface="Calibri" pitchFamily="34" charset="-122"/>
                <a:cs typeface="Calibri" pitchFamily="34" charset="-120"/>
              </a:rPr>
              <a:t>Cargar Exception.php, PHPMailer.php y SMTP.php.</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Crear el objeto PHPMailer para configurar el mensaje.</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Luego indicar la conexión, el destinatario y el contenido.</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P</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PHPMailer</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a:solidFill>
                  <a:srgbClr val="EADBC8"/>
                </a:solidFill>
                <a:latin typeface="Courier New" pitchFamily="34" charset="0"/>
                <a:ea typeface="Courier New" pitchFamily="34" charset="-122"/>
                <a:cs typeface="Courier New" pitchFamily="34" charset="-120"/>
              </a:rPr>
              <a:t>composer require phpmailer/phpmailer:7.1.1
# Alternativa: copiar src/ en Libreria/PHPMailer/src/
use PHPMailer\PHPMailer\PHPMailer;
$correo = new PHPMailer(true);
# Luego se configura y se envia
$correo-&gt;send();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a:solidFill>
                  <a:srgbClr val="2E1503"/>
                </a:solidFill>
                <a:latin typeface="Cambria" pitchFamily="34" charset="0"/>
                <a:ea typeface="Cambria" pitchFamily="34" charset="-122"/>
                <a:cs typeface="Cambria" pitchFamily="34" charset="-120"/>
              </a:rPr>
              <a:t>PHPMailer: configuración de Gmail</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Activar la verificación en dos pasos de Gmail.</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Crear una contraseña de aplicación para PHPMailer.</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Escribir correo y clave en PHP/config_panaderia.php.</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Configurar SMTP, remitente y destinatario en el código.</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P</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Gmail + SMTP</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a:solidFill>
                  <a:srgbClr val="EADBC8"/>
                </a:solidFill>
                <a:latin typeface="Courier New" pitchFamily="34" charset="0"/>
                <a:ea typeface="Courier New" pitchFamily="34" charset="-122"/>
                <a:cs typeface="Courier New" pitchFamily="34" charset="-120"/>
              </a:rPr>
              <a:t># PHP/config_panaderia.php
return [
  'smtp_user' =&gt; 'correo@gmail.com',
  'smtp_password' =&gt; 'CLAVE_DE_APLICACION',
];
Host: smtp.gmail.com | Puerto: 587
SMTPAuth: true | STARTTLS
setFrom(): remitente
addAddress(): destinatario</a:t>
            </a:r>
            <a:endParaRPr lang="en-US" sz="950" dirty="0"/>
          </a:p>
        </p:txBody>
      </p:sp>
    </p:spTree>
    <p:extLst>
      <p:ext uri="{BB962C8B-B14F-4D97-AF65-F5344CB8AC3E}">
        <p14:creationId xmlns:p14="http://schemas.microsoft.com/office/powerpoint/2010/main" val="3308663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a:solidFill>
                  <a:srgbClr val="2E1503"/>
                </a:solidFill>
                <a:latin typeface="Cambria" pitchFamily="34" charset="0"/>
                <a:ea typeface="Cambria" pitchFamily="34" charset="-122"/>
                <a:cs typeface="Cambria" pitchFamily="34" charset="-120"/>
              </a:rPr>
              <a:t>PHPMailer: diccionario (1/2)</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Clase PHPMailer: molde que define herramientas para preparar y enviar mensajes.</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Objeto $correo: ejemplar creado desde esa clase para configurar un mensaje.</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new PHPMailer(true): crea el objeto; true activa errores mediante excepciones.</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-&gt;: permite acceder a las propiedades y métodos del objeto.</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P</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Clase y objeto</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a:solidFill>
                  <a:srgbClr val="EADBC8"/>
                </a:solidFill>
                <a:latin typeface="Courier New" pitchFamily="34" charset="0"/>
                <a:ea typeface="Courier New" pitchFamily="34" charset="-122"/>
                <a:cs typeface="Courier New" pitchFamily="34" charset="-120"/>
              </a:rPr>
              <a:t>use PHPMailer\PHPMailer\PHPMailer;
$correo = new PHPMailer(true);
$correo-&gt;Host = 'smtp.gmail.com';
$correo-&gt;Port = 587;
$correo-&gt;SMTPAuth = true;
$correo-&gt;isSMTP();</a:t>
            </a:r>
            <a:endParaRPr lang="en-US" sz="950" dirty="0"/>
          </a:p>
        </p:txBody>
      </p:sp>
    </p:spTree>
    <p:extLst>
      <p:ext uri="{BB962C8B-B14F-4D97-AF65-F5344CB8AC3E}">
        <p14:creationId xmlns:p14="http://schemas.microsoft.com/office/powerpoint/2010/main" val="394972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a:solidFill>
                  <a:srgbClr val="2E1503"/>
                </a:solidFill>
                <a:latin typeface="Cambria" pitchFamily="34" charset="0"/>
                <a:ea typeface="Cambria" pitchFamily="34" charset="-122"/>
                <a:cs typeface="Cambria" pitchFamily="34" charset="-120"/>
              </a:rPr>
              <a:t>PHPMailer: diccionario (2/2)</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SMTP, Host y Port: protocolo, servidor de correo y puerto de conexión.</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SMTPAuth, Username y Password: activan y aportan credenciales de acceso.</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SMTPSecure: define cifrado; STARTTLS eleva la conexión a TLS.</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s-ES" sz="1300">
                <a:solidFill>
                  <a:srgbClr val="2B2B2B"/>
                </a:solidFill>
                <a:latin typeface="Calibri" pitchFamily="34" charset="0"/>
                <a:ea typeface="Calibri" pitchFamily="34" charset="-122"/>
                <a:cs typeface="Calibri" pitchFamily="34" charset="-120"/>
              </a:rPr>
              <a:t>setFrom y addAddress definen emisor y receptor; send() intenta enviar.</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P</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a:solidFill>
                  <a:srgbClr val="FFFFFF"/>
                </a:solidFill>
                <a:latin typeface="Cambria" pitchFamily="34" charset="0"/>
                <a:ea typeface="Cambria" pitchFamily="34" charset="-122"/>
                <a:cs typeface="Cambria" pitchFamily="34" charset="-120"/>
              </a:rPr>
              <a:t>Propiedades y métodos</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a:solidFill>
                  <a:srgbClr val="EADBC8"/>
                </a:solidFill>
                <a:latin typeface="Courier New" pitchFamily="34" charset="0"/>
                <a:ea typeface="Courier New" pitchFamily="34" charset="-122"/>
                <a:cs typeface="Courier New" pitchFamily="34" charset="-120"/>
              </a:rPr>
              <a:t>$correo-&gt;SMTPAuth = true;
$correo-&gt;Username = $config[''smtp_user''];
$correo-&gt;Password = $config[''smtp_password''];
$correo-&gt;SMTPSecure = PHPMailer::ENCRYPTION_STARTTLS;
$correo-&gt;setFrom($correo-&gt;Username, 'Panaderia');
$correo-&gt;addAddress($destinatario);
$correo-&gt;Subject = 'Asunto';
$correo-&gt;Body = 'Contenido';
$correo-&gt;AltBody = 'Texto sin HTML';
$correo-&gt;send();</a:t>
            </a:r>
            <a:endParaRPr lang="en-US" sz="950" dirty="0"/>
          </a:p>
        </p:txBody>
      </p:sp>
    </p:spTree>
    <p:extLst>
      <p:ext uri="{BB962C8B-B14F-4D97-AF65-F5344CB8AC3E}">
        <p14:creationId xmlns:p14="http://schemas.microsoft.com/office/powerpoint/2010/main" val="3920827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3400" b="1" dirty="0">
                <a:solidFill>
                  <a:srgbClr val="2E1503"/>
                </a:solidFill>
                <a:latin typeface="Cambria" pitchFamily="34" charset="0"/>
                <a:ea typeface="Cambria" pitchFamily="34" charset="-122"/>
                <a:cs typeface="Cambria" pitchFamily="34" charset="-120"/>
              </a:rPr>
              <a:t>Dompdf 3.1.6: instalación</a:t>
            </a:r>
            <a:endParaRPr lang="en-US" sz="3400" dirty="0"/>
          </a:p>
        </p:txBody>
      </p:sp>
      <p:sp>
        <p:nvSpPr>
          <p:cNvPr id="3" name="Shape 1"/>
          <p:cNvSpPr/>
          <p:nvPr/>
        </p:nvSpPr>
        <p:spPr>
          <a:xfrm>
            <a:off x="548640" y="1280160"/>
            <a:ext cx="457200" cy="457200"/>
          </a:xfrm>
          <a:prstGeom prst="ellipse">
            <a:avLst/>
          </a:prstGeom>
          <a:solidFill>
            <a:srgbClr val="D4822A"/>
          </a:solidFill>
          <a:ln w="12700">
            <a:solidFill>
              <a:srgbClr val="D4822A"/>
            </a:solidFill>
            <a:prstDash val="solid"/>
          </a:ln>
        </p:spPr>
      </p:sp>
      <p:sp>
        <p:nvSpPr>
          <p:cNvPr id="4" name="Text 2"/>
          <p:cNvSpPr txBox="1"/>
          <p:nvPr/>
        </p:nvSpPr>
        <p:spPr>
          <a:xfrm>
            <a:off x="548640" y="128016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5" name="Text 3"/>
          <p:cNvSpPr txBox="1"/>
          <p:nvPr/>
        </p:nvSpPr>
        <p:spPr>
          <a:xfrm>
            <a:off x="1188720" y="118872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Instalar con Composer o copiar la librería en Libreria/dompdf/.</a:t>
            </a:r>
            <a:endParaRPr lang="en-US" sz="1300" dirty="0"/>
          </a:p>
        </p:txBody>
      </p:sp>
      <p:sp>
        <p:nvSpPr>
          <p:cNvPr id="6" name="Shape 4"/>
          <p:cNvSpPr/>
          <p:nvPr/>
        </p:nvSpPr>
        <p:spPr>
          <a:xfrm>
            <a:off x="548640" y="2103120"/>
            <a:ext cx="457200" cy="457200"/>
          </a:xfrm>
          <a:prstGeom prst="ellipse">
            <a:avLst/>
          </a:prstGeom>
          <a:solidFill>
            <a:srgbClr val="D4822A"/>
          </a:solidFill>
          <a:ln w="12700">
            <a:solidFill>
              <a:srgbClr val="D4822A"/>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8" name="Text 6"/>
          <p:cNvSpPr txBox="1"/>
          <p:nvPr/>
        </p:nvSpPr>
        <p:spPr>
          <a:xfrm>
            <a:off x="1188720" y="201168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Incluir autoload.inc.php.</a:t>
            </a:r>
            <a:endParaRPr lang="en-US" sz="1300" dirty="0"/>
          </a:p>
        </p:txBody>
      </p:sp>
      <p:sp>
        <p:nvSpPr>
          <p:cNvPr id="9" name="Shape 7"/>
          <p:cNvSpPr/>
          <p:nvPr/>
        </p:nvSpPr>
        <p:spPr>
          <a:xfrm>
            <a:off x="548640" y="2926080"/>
            <a:ext cx="457200" cy="457200"/>
          </a:xfrm>
          <a:prstGeom prst="ellipse">
            <a:avLst/>
          </a:prstGeom>
          <a:solidFill>
            <a:srgbClr val="D4822A"/>
          </a:solidFill>
          <a:ln w="12700">
            <a:solidFill>
              <a:srgbClr val="D4822A"/>
            </a:solidFill>
            <a:prstDash val="solid"/>
          </a:ln>
        </p:spPr>
      </p:sp>
      <p:sp>
        <p:nvSpPr>
          <p:cNvPr id="10" name="Text 8"/>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1" name="Text 9"/>
          <p:cNvSpPr txBox="1"/>
          <p:nvPr/>
        </p:nvSpPr>
        <p:spPr>
          <a:xfrm>
            <a:off x="1188720" y="283464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Capturar el HTML del reporte con ob_start() y ob_get_clean().</a:t>
            </a:r>
            <a:endParaRPr lang="en-US" sz="1300" dirty="0"/>
          </a:p>
        </p:txBody>
      </p:sp>
      <p:sp>
        <p:nvSpPr>
          <p:cNvPr id="12" name="Shape 10"/>
          <p:cNvSpPr/>
          <p:nvPr/>
        </p:nvSpPr>
        <p:spPr>
          <a:xfrm>
            <a:off x="548640" y="3749040"/>
            <a:ext cx="457200" cy="457200"/>
          </a:xfrm>
          <a:prstGeom prst="ellipse">
            <a:avLst/>
          </a:prstGeom>
          <a:solidFill>
            <a:srgbClr val="D4822A"/>
          </a:solidFill>
          <a:ln w="12700">
            <a:solidFill>
              <a:srgbClr val="D4822A"/>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4" name="Text 12"/>
          <p:cNvSpPr txBox="1"/>
          <p:nvPr/>
        </p:nvSpPr>
        <p:spPr>
          <a:xfrm>
            <a:off x="1188720" y="3657600"/>
            <a:ext cx="3063240" cy="7772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Cargar el HTML, definir el papel, renderizar y enviar el PDF.</a:t>
            </a:r>
            <a:endParaRPr lang="en-US" sz="1300" dirty="0"/>
          </a:p>
        </p:txBody>
      </p:sp>
      <p:sp>
        <p:nvSpPr>
          <p:cNvPr id="15" name="Shape 13"/>
          <p:cNvSpPr/>
          <p:nvPr/>
        </p:nvSpPr>
        <p:spPr>
          <a:xfrm>
            <a:off x="4480560" y="1234440"/>
            <a:ext cx="4114800" cy="3520440"/>
          </a:xfrm>
          <a:prstGeom prst="roundRect">
            <a:avLst>
              <a:gd name="adj" fmla="val 2597"/>
            </a:avLst>
          </a:prstGeom>
          <a:solidFill>
            <a:srgbClr val="1E1E1E"/>
          </a:solidFill>
          <a:ln w="12700">
            <a:solidFill>
              <a:srgbClr val="1E1E1E"/>
            </a:solidFill>
            <a:prstDash val="solid"/>
          </a:ln>
        </p:spPr>
      </p:sp>
      <p:sp>
        <p:nvSpPr>
          <p:cNvPr id="16" name="Shape 14"/>
          <p:cNvSpPr/>
          <p:nvPr/>
        </p:nvSpPr>
        <p:spPr>
          <a:xfrm>
            <a:off x="4663440" y="1371600"/>
            <a:ext cx="365760" cy="365760"/>
          </a:xfrm>
          <a:prstGeom prst="ellipse">
            <a:avLst/>
          </a:prstGeom>
          <a:solidFill>
            <a:srgbClr val="D4822A"/>
          </a:solidFill>
          <a:ln w="12700">
            <a:solidFill>
              <a:srgbClr val="D4822A"/>
            </a:solidFill>
            <a:prstDash val="solid"/>
          </a:ln>
        </p:spPr>
      </p:sp>
      <p:sp>
        <p:nvSpPr>
          <p:cNvPr id="17" name="Text 15"/>
          <p:cNvSpPr txBox="1"/>
          <p:nvPr/>
        </p:nvSpPr>
        <p:spPr>
          <a:xfrm>
            <a:off x="4663440" y="1371600"/>
            <a:ext cx="365760" cy="365760"/>
          </a:xfrm>
          <a:prstGeom prst="rect">
            <a:avLst/>
          </a:prstGeom>
          <a:noFill/>
          <a:ln/>
        </p:spPr>
        <p:txBody>
          <a:bodyPr wrap="square" lIns="0" tIns="0" rIns="0" bIns="0" rtlCol="0" anchor="ctr"/>
          <a:lstStyle/>
          <a:p>
            <a:pPr marL="0" indent="0" algn="ctr">
              <a:buNone/>
            </a:pPr>
            <a:r>
              <a:rPr lang="en-US" sz="880" b="1" dirty="0">
                <a:solidFill>
                  <a:srgbClr val="FFFFFF"/>
                </a:solidFill>
                <a:latin typeface="Cambria" pitchFamily="34" charset="0"/>
                <a:ea typeface="Cambria" pitchFamily="34" charset="-122"/>
                <a:cs typeface="Cambria" pitchFamily="34" charset="-120"/>
              </a:rPr>
              <a:t>R</a:t>
            </a:r>
            <a:endParaRPr lang="en-US" sz="880" dirty="0"/>
          </a:p>
        </p:txBody>
      </p:sp>
      <p:sp>
        <p:nvSpPr>
          <p:cNvPr id="18" name="Text 16"/>
          <p:cNvSpPr txBox="1"/>
          <p:nvPr/>
        </p:nvSpPr>
        <p:spPr>
          <a:xfrm>
            <a:off x="5166360" y="1371600"/>
            <a:ext cx="32004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Dompdf</a:t>
            </a:r>
            <a:endParaRPr lang="en-US" sz="1700" dirty="0"/>
          </a:p>
        </p:txBody>
      </p:sp>
      <p:sp>
        <p:nvSpPr>
          <p:cNvPr id="19" name="Text 17"/>
          <p:cNvSpPr txBox="1"/>
          <p:nvPr/>
        </p:nvSpPr>
        <p:spPr>
          <a:xfrm>
            <a:off x="4663440" y="1874520"/>
            <a:ext cx="3794760" cy="2788920"/>
          </a:xfrm>
          <a:prstGeom prst="rect">
            <a:avLst/>
          </a:prstGeom>
          <a:noFill/>
          <a:ln/>
        </p:spPr>
        <p:txBody>
          <a:bodyPr wrap="square" lIns="0" tIns="0" rIns="0" bIns="0" rtlCol="0" anchor="t"/>
          <a:lstStyle/>
          <a:p>
            <a:pPr marL="0" indent="0">
              <a:buNone/>
            </a:pPr>
            <a:r>
              <a:rPr lang="en-US" sz="950" dirty="0">
                <a:solidFill>
                  <a:srgbClr val="EADBC8"/>
                </a:solidFill>
                <a:latin typeface="Courier New" pitchFamily="34" charset="0"/>
                <a:ea typeface="Courier New" pitchFamily="34" charset="-122"/>
                <a:cs typeface="Courier New" pitchFamily="34" charset="-120"/>
              </a:rPr>
              <a:t>composer require dompdf/dompdf:3.1.6</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 o copiar en Libreria/dompdf/</a:t>
            </a:r>
            <a:endParaRPr lang="en-US" sz="950" dirty="0"/>
          </a:p>
          <a:p>
            <a:pPr marL="0" indent="0">
              <a:buNone/>
            </a:pP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require_once '.../dompdf/autoload.inc.php';</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use Dompdf\Dompdf;</a:t>
            </a:r>
            <a:endParaRPr lang="en-US" sz="950" dirty="0"/>
          </a:p>
          <a:p>
            <a:pPr marL="0" indent="0">
              <a:buNone/>
            </a:pP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$html = ob_get_clean();</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$dompdf = new Dompdf();</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$dompdf-&gt;loadHtml($html);</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$dompdf-&gt;setPaper('A4', 'portrait');</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$dompdf-&gt;render();</a:t>
            </a:r>
            <a:endParaRPr lang="en-US" sz="950" dirty="0"/>
          </a:p>
          <a:p>
            <a:pPr marL="0" indent="0">
              <a:buNone/>
            </a:pPr>
            <a:r>
              <a:rPr lang="en-US" sz="950" dirty="0">
                <a:solidFill>
                  <a:srgbClr val="EADBC8"/>
                </a:solidFill>
                <a:latin typeface="Courier New" pitchFamily="34" charset="0"/>
                <a:ea typeface="Courier New" pitchFamily="34" charset="-122"/>
                <a:cs typeface="Courier New" pitchFamily="34" charset="-120"/>
              </a:rPr>
              <a:t>$dompdf-&gt;stream("Reporte.pdf");</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1545</Words>
  <Application>Microsoft Office PowerPoint</Application>
  <PresentationFormat>Presentación en pantalla (16:9)</PresentationFormat>
  <Paragraphs>178</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Máximo Emanuel Pedrozo</cp:lastModifiedBy>
  <cp:revision>5</cp:revision>
  <dcterms:created xsi:type="dcterms:W3CDTF">2026-09-28T18:02:31Z</dcterms:created>
  <dcterms:modified xsi:type="dcterms:W3CDTF">2026-10-01T18:19:13Z</dcterms:modified>
</cp:coreProperties>
</file>